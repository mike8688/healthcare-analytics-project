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84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66" r:id="rId5"/>
    <p:sldId id="283" r:id="rId6"/>
    <p:sldId id="268" r:id="rId7"/>
    <p:sldId id="267" r:id="rId8"/>
    <p:sldId id="269" r:id="rId9"/>
    <p:sldId id="270" r:id="rId10"/>
    <p:sldId id="271" r:id="rId11"/>
    <p:sldId id="286" r:id="rId12"/>
    <p:sldId id="284" r:id="rId13"/>
    <p:sldId id="285" r:id="rId14"/>
    <p:sldId id="287" r:id="rId15"/>
    <p:sldId id="277" r:id="rId16"/>
    <p:sldId id="279" r:id="rId17"/>
  </p:sldIdLst>
  <p:sldSz cx="9144000" cy="5145088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9F"/>
    <a:srgbClr val="0CA3D7"/>
    <a:srgbClr val="000000"/>
    <a:srgbClr val="FA3ADF"/>
    <a:srgbClr val="51ED45"/>
    <a:srgbClr val="00FFFF"/>
    <a:srgbClr val="1B00FE"/>
    <a:srgbClr val="65482B"/>
    <a:srgbClr val="C75806"/>
    <a:srgbClr val="0C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5196" autoAdjust="0"/>
  </p:normalViewPr>
  <p:slideViewPr>
    <p:cSldViewPr>
      <p:cViewPr varScale="1">
        <p:scale>
          <a:sx n="134" d="100"/>
          <a:sy n="134" d="100"/>
        </p:scale>
        <p:origin x="57" y="10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4496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ru-RU" alt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8A56E47-2E6A-4370-BFD2-60CC4C3791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67550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456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9111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8FFD4C-7C56-41BE-B693-9F9CE9820561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5E9FA-52B1-43D7-9A0A-3DC8C9C9212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720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829D80-F4CF-4580-BF5C-3DB5B3AFC968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A16E2-EEEA-4C65-930C-B260DDA053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014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9EFA55-C42F-4647-85FF-D583DF54F25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DBDB9-708D-42F9-A5E0-79635382616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925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204913"/>
            <a:ext cx="3600450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763" y="1204913"/>
            <a:ext cx="3602037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91AD0A-C18E-4515-9B00-B54E3012075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D7816-22C3-41E1-BE37-7D1C66BA528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8075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C3980C-59D6-4494-BB77-4E078A86FC1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102D1-4F79-401E-977B-797508E8862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4555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9C1762-824C-447A-9F72-965EF4E61C6A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1EA2-279D-4457-A779-132FB621DCF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257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22563B-29E4-4156-8520-0B4B78497913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0CCE9-18A6-456F-B0A3-98B08B68E5D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100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7188A2-EA52-4E4A-B3B8-2DBB7910808E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C9EAB-D4F2-4CCC-95B7-D09553F846A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340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FA9252-C2E7-4FDB-A8C2-EF8C207724C8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428D2-3CCD-4CE4-921C-0D0F596FD8B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780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402630-9A67-4A7C-B169-22C8D4310E1D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754F3-2D2A-427C-9D5B-4F5C99E6D4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262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8475" y="196850"/>
            <a:ext cx="1838325" cy="4403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1913" y="196850"/>
            <a:ext cx="5364162" cy="4403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DE9E10-13E6-442B-8811-946EB2C61485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076C8-A096-4B12-8194-E8B31EB8ACE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0550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3748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782"/>
            <a:ext cx="5111752" cy="1137001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4045"/>
            <a:ext cx="5111752" cy="990907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9414"/>
            <a:ext cx="673100" cy="209615"/>
          </a:xfrm>
        </p:spPr>
        <p:txBody>
          <a:bodyPr/>
          <a:lstStyle/>
          <a:p>
            <a:fld id="{718FFD4C-7C56-41BE-B693-9F9CE9820561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9414"/>
            <a:ext cx="3910976" cy="209615"/>
          </a:xfrm>
        </p:spPr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9414"/>
            <a:ext cx="413375" cy="209615"/>
          </a:xfrm>
        </p:spPr>
        <p:txBody>
          <a:bodyPr/>
          <a:lstStyle/>
          <a:p>
            <a:fld id="{9B15E9FA-52B1-43D7-9A0A-3DC8C9C9212C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2414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208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66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9D80-F4CF-4580-BF5C-3DB5B3AFC968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83430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860"/>
            <a:ext cx="6119016" cy="1367308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5429"/>
            <a:ext cx="6119018" cy="71613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FA55-C42F-4647-85FF-D583DF54F25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DB9-708D-42F9-A5E0-796353826169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3798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43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66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833"/>
            <a:ext cx="3538728" cy="24833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833"/>
            <a:ext cx="3538728" cy="24833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AD0A-C18E-4515-9B00-B54E3012075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7816-22C3-41E1-BE37-7D1C66BA528E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7804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4515"/>
            <a:ext cx="3538728" cy="432330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3198"/>
            <a:ext cx="3538728" cy="1975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4515"/>
            <a:ext cx="3538728" cy="432330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3198"/>
            <a:ext cx="3538728" cy="1975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980C-59D6-4494-BB77-4E078A86FC10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102D1-4F79-401E-977B-797508E88625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66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75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C1762-824C-447A-9F72-965EF4E61C6A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B1EA2-279D-4457-A779-132FB621DCFA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66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398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2563B-29E4-4156-8520-0B4B78497913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CCE9-18A6-456F-B0A3-98B08B68E5D3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3841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722"/>
            <a:ext cx="2788841" cy="1029018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826"/>
            <a:ext cx="4102100" cy="3671434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4000"/>
            <a:ext cx="2788841" cy="182936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88A2-EA52-4E4A-B3B8-2DBB7910808E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9EAB-D4F2-4CCC-95B7-D09553F846AA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5074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335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3310"/>
            <a:ext cx="4681362" cy="1029018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291"/>
            <a:ext cx="2297510" cy="358250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2328"/>
            <a:ext cx="4681362" cy="1372023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9252-C2E7-4FDB-A8C2-EF8C207724C8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28D2-3CCD-4CE4-921C-0D0F596FD8B4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9072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2676"/>
            <a:ext cx="7207250" cy="425185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291"/>
            <a:ext cx="7579479" cy="250267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7861"/>
            <a:ext cx="7207250" cy="370398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8564392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827"/>
            <a:ext cx="7194549" cy="2216835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8555"/>
            <a:ext cx="7194549" cy="11497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6108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686531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826"/>
            <a:ext cx="6972299" cy="1778550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5376"/>
            <a:ext cx="6629402" cy="438285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8555"/>
            <a:ext cx="7207250" cy="11497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  <p:sp>
        <p:nvSpPr>
          <p:cNvPr id="14" name="TextBox 13"/>
          <p:cNvSpPr txBox="1"/>
          <p:nvPr/>
        </p:nvSpPr>
        <p:spPr>
          <a:xfrm>
            <a:off x="646510" y="660175"/>
            <a:ext cx="457200" cy="43871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1558"/>
            <a:ext cx="457200" cy="43871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6108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09881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2202"/>
            <a:ext cx="7207251" cy="110194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4142"/>
            <a:ext cx="7207251" cy="645499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80358596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826"/>
            <a:ext cx="6972299" cy="168327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30327"/>
            <a:ext cx="7207251" cy="66543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8299"/>
            <a:ext cx="7207251" cy="1009962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  <p:sp>
        <p:nvSpPr>
          <p:cNvPr id="12" name="TextBox 11"/>
          <p:cNvSpPr txBox="1"/>
          <p:nvPr/>
        </p:nvSpPr>
        <p:spPr>
          <a:xfrm>
            <a:off x="646510" y="660175"/>
            <a:ext cx="457200" cy="43871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50048"/>
            <a:ext cx="457200" cy="43871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2544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235577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826"/>
            <a:ext cx="7207250" cy="16832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3466"/>
            <a:ext cx="7207251" cy="63113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3835"/>
            <a:ext cx="7207253" cy="105442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2544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97957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2630-9A67-4A7C-B169-22C8D4310E1D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54F3-2D2A-427C-9D5B-4F5C99E6D440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66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7154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826"/>
            <a:ext cx="1418171" cy="3671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826"/>
            <a:ext cx="5574769" cy="36714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9E10-13E6-442B-8811-946EB2C61485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76C8-A096-4B12-8194-E8B31EB8ACE5}" type="slidenum">
              <a:rPr lang="ru-RU" altLang="ru-RU" smtClean="0"/>
              <a:pPr/>
              <a:t>‹#›</a:t>
            </a:fld>
            <a:endParaRPr lang="ru-RU" alt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3180"/>
            <a:ext cx="0" cy="3658729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4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96850"/>
            <a:ext cx="734218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rgbClr val="000000"/>
                </a:solidFill>
                <a:latin typeface="+mn-lt"/>
              </a:defRPr>
            </a:lvl1pPr>
          </a:lstStyle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fld id="{3C731832-5850-4A36-B0B2-3A8EFF48616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3748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827"/>
            <a:ext cx="7200897" cy="9782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8291"/>
            <a:ext cx="7200897" cy="24899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8132"/>
            <a:ext cx="1200150" cy="209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FE6526-86E3-4E89-AD69-D82BF7DAC809}" type="datetime1">
              <a:rPr lang="en-US" altLang="ru-RU" smtClean="0"/>
              <a:t>3/3/2026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8132"/>
            <a:ext cx="5479425" cy="209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8132"/>
            <a:ext cx="407023" cy="209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731832-5850-4A36-B0B2-3A8EFF48616B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196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46" name="Rectangle 34845">
            <a:extLst>
              <a:ext uri="{FF2B5EF4-FFF2-40B4-BE49-F238E27FC236}">
                <a16:creationId xmlns:a16="http://schemas.microsoft.com/office/drawing/2014/main" id="{9B347087-DEE1-4F23-8486-A2690AA19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5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48" name="Rectangle 34847">
            <a:extLst>
              <a:ext uri="{FF2B5EF4-FFF2-40B4-BE49-F238E27FC236}">
                <a16:creationId xmlns:a16="http://schemas.microsoft.com/office/drawing/2014/main" id="{44BB81AE-EE4A-4AA4-8941-104B6C943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366215"/>
            <a:ext cx="8420582" cy="4413833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34850" name="Straight Connector 34849">
            <a:extLst>
              <a:ext uri="{FF2B5EF4-FFF2-40B4-BE49-F238E27FC236}">
                <a16:creationId xmlns:a16="http://schemas.microsoft.com/office/drawing/2014/main" id="{4AA791FC-1AEF-4561-93B5-6B9E981B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5960" y="2696653"/>
            <a:ext cx="52120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52" name="Rectangle 34851">
            <a:extLst>
              <a:ext uri="{FF2B5EF4-FFF2-40B4-BE49-F238E27FC236}">
                <a16:creationId xmlns:a16="http://schemas.microsoft.com/office/drawing/2014/main" id="{AAA2202F-2A68-464D-8E53-CEBE9303D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457341"/>
            <a:ext cx="8229600" cy="4230405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854" name="Group 34853">
            <a:extLst>
              <a:ext uri="{FF2B5EF4-FFF2-40B4-BE49-F238E27FC236}">
                <a16:creationId xmlns:a16="http://schemas.microsoft.com/office/drawing/2014/main" id="{5B129734-DF6D-46B8-A0E0-4F178B3AD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47441"/>
            <a:ext cx="9176000" cy="493928"/>
            <a:chOff x="-18288" y="3128956"/>
            <a:chExt cx="12234672" cy="658368"/>
          </a:xfrm>
        </p:grpSpPr>
        <p:sp useBgFill="1">
          <p:nvSpPr>
            <p:cNvPr id="34855" name="Rounded Rectangle 21">
              <a:extLst>
                <a:ext uri="{FF2B5EF4-FFF2-40B4-BE49-F238E27FC236}">
                  <a16:creationId xmlns:a16="http://schemas.microsoft.com/office/drawing/2014/main" id="{6A986578-4991-4E9B-94B7-056F6B09B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34856" name="Picture 34855">
              <a:extLst>
                <a:ext uri="{FF2B5EF4-FFF2-40B4-BE49-F238E27FC236}">
                  <a16:creationId xmlns:a16="http://schemas.microsoft.com/office/drawing/2014/main" id="{257D0097-ACF2-46A6-804C-C5D55A18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34857" name="Rounded Rectangle 27">
              <a:extLst>
                <a:ext uri="{FF2B5EF4-FFF2-40B4-BE49-F238E27FC236}">
                  <a16:creationId xmlns:a16="http://schemas.microsoft.com/office/drawing/2014/main" id="{A71DA5EB-109A-4C2F-A093-7E5F6490B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34858" name="Picture 34857">
              <a:extLst>
                <a:ext uri="{FF2B5EF4-FFF2-40B4-BE49-F238E27FC236}">
                  <a16:creationId xmlns:a16="http://schemas.microsoft.com/office/drawing/2014/main" id="{DA85B8CE-EB01-4DD0-8B39-D413503D7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547664" y="813052"/>
            <a:ext cx="6172200" cy="1836335"/>
          </a:xfrm>
        </p:spPr>
        <p:txBody>
          <a:bodyPr>
            <a:normAutofit fontScale="90000"/>
          </a:bodyPr>
          <a:lstStyle/>
          <a:p>
            <a:br>
              <a:rPr lang="en-US" altLang="ru-RU" sz="5400" u="sng" dirty="0">
                <a:solidFill>
                  <a:schemeClr val="accent5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</a:br>
            <a:r>
              <a:rPr lang="en-US" altLang="ru-RU" sz="5400" u="sng" dirty="0">
                <a:solidFill>
                  <a:schemeClr val="accent5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Health</a:t>
            </a:r>
            <a:r>
              <a:rPr lang="en-US" altLang="ru-RU" sz="5400" u="sng" dirty="0">
                <a:solidFill>
                  <a:schemeClr val="bg1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 </a:t>
            </a:r>
            <a:br>
              <a:rPr lang="en-US" altLang="ru-RU" sz="5400" u="sng" dirty="0">
                <a:solidFill>
                  <a:schemeClr val="bg1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</a:br>
            <a:r>
              <a:rPr lang="en-US" altLang="ru-RU" sz="5400" u="sng" dirty="0">
                <a:solidFill>
                  <a:schemeClr val="bg1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care </a:t>
            </a:r>
            <a:br>
              <a:rPr lang="en-US" altLang="ru-RU" sz="5400" u="sng" dirty="0">
                <a:solidFill>
                  <a:schemeClr val="bg1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</a:br>
            <a:r>
              <a:rPr lang="en-US" altLang="ru-RU" sz="5400" u="sng" dirty="0">
                <a:solidFill>
                  <a:srgbClr val="92D050"/>
                </a:solidFill>
                <a:latin typeface="Algerian" panose="04020705040A02060702" pitchFamily="82" charset="0"/>
                <a:ea typeface="Roboto" pitchFamily="2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3564830" y="4354959"/>
            <a:ext cx="532765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2000">
                <a:solidFill>
                  <a:srgbClr val="601010"/>
                </a:solidFill>
                <a:latin typeface="Georgia" pitchFamily="18" charset="0"/>
              </a:defRPr>
            </a:lvl1pPr>
            <a:lvl2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2pPr>
            <a:lvl3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9pPr>
          </a:lstStyle>
          <a:p>
            <a:pPr algn="r"/>
            <a:endParaRPr lang="uk-UA" altLang="ru-RU" b="0" dirty="0">
              <a:solidFill>
                <a:schemeClr val="tx2"/>
              </a:solidFill>
              <a:latin typeface="+mn-lt"/>
              <a:ea typeface="Roboto light" pitchFamily="2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726BC-2954-AB6D-D98E-8C90F08A4FB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6" t="10533" r="3415" b="14331"/>
          <a:stretch>
            <a:fillRect/>
          </a:stretch>
        </p:blipFill>
        <p:spPr>
          <a:xfrm>
            <a:off x="457997" y="413161"/>
            <a:ext cx="8225624" cy="4203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4063E3-AF77-1C6C-C1DA-5686A01DE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968" y="2284512"/>
            <a:ext cx="4392373" cy="2429211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9" name="AutoShape 10" descr="Generated image">
            <a:extLst>
              <a:ext uri="{FF2B5EF4-FFF2-40B4-BE49-F238E27FC236}">
                <a16:creationId xmlns:a16="http://schemas.microsoft.com/office/drawing/2014/main" id="{39BCF8BA-1DA7-B334-BAE0-11DBE8E212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736576" cy="17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83E9AF-8D1E-1AD6-F42F-D1D73E2B4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34" y="2212504"/>
            <a:ext cx="4137282" cy="2520280"/>
          </a:xfrm>
          <a:prstGeom prst="rect">
            <a:avLst/>
          </a:prstGeom>
          <a:scene3d>
            <a:camera prst="orthographicFront">
              <a:rot lat="0" lon="10500000" rev="0"/>
            </a:camera>
            <a:lightRig rig="threePt" dir="t"/>
          </a:scene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4E53B-08C9-C06E-D571-6E3A3090A4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84313"/>
            <a:ext cx="8064896" cy="4176464"/>
          </a:xfrm>
          <a:prstGeom prst="rect">
            <a:avLst/>
          </a:prstGeom>
        </p:spPr>
      </p:pic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852465"/>
            <a:ext cx="8350250" cy="273630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Mrs. Sonali Shukla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Mrs. Prajakta Rohit </a:t>
            </a:r>
            <a:r>
              <a:rPr lang="en-US" altLang="ko-KR" b="1" i="1" dirty="0" err="1">
                <a:latin typeface="Arial Narrow" panose="020B0606020202030204" pitchFamily="34" charset="0"/>
                <a:ea typeface="Gulim" pitchFamily="34" charset="-127"/>
              </a:rPr>
              <a:t>Zirkande</a:t>
            </a:r>
            <a:endParaRPr lang="en-US" altLang="ko-KR" b="1" i="1" dirty="0">
              <a:latin typeface="Arial Narrow" panose="020B0606020202030204" pitchFamily="34" charset="0"/>
              <a:ea typeface="Gulim" pitchFamily="34" charset="-127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</a:t>
            </a:r>
            <a:r>
              <a:rPr lang="en-US" altLang="ko-KR" b="1" i="1" dirty="0" err="1">
                <a:latin typeface="Arial Narrow" panose="020B0606020202030204" pitchFamily="34" charset="0"/>
                <a:ea typeface="Gulim" pitchFamily="34" charset="-127"/>
              </a:rPr>
              <a:t>Madineni</a:t>
            </a: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Praveen Kumar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</a:t>
            </a:r>
            <a:r>
              <a:rPr lang="en-US" altLang="ko-KR" b="1" i="1" dirty="0" err="1">
                <a:latin typeface="Arial Narrow" panose="020B0606020202030204" pitchFamily="34" charset="0"/>
                <a:ea typeface="Gulim" pitchFamily="34" charset="-127"/>
              </a:rPr>
              <a:t>Pasham</a:t>
            </a: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Vaishnavi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Sivapriya 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Yaswanth Kumar Rajala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 </a:t>
            </a:r>
            <a:r>
              <a:rPr lang="en-US" altLang="ko-KR" b="1" i="1" dirty="0" err="1">
                <a:latin typeface="Arial Narrow" panose="020B0606020202030204" pitchFamily="34" charset="0"/>
                <a:ea typeface="Gulim" pitchFamily="34" charset="-127"/>
              </a:rPr>
              <a:t>Lakkekula</a:t>
            </a: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</a:t>
            </a:r>
            <a:r>
              <a:rPr lang="en-US" altLang="ko-KR" b="1" i="1" dirty="0" err="1">
                <a:latin typeface="Arial Narrow" panose="020B0606020202030204" pitchFamily="34" charset="0"/>
                <a:ea typeface="Gulim" pitchFamily="34" charset="-127"/>
              </a:rPr>
              <a:t>Penchala</a:t>
            </a:r>
            <a:r>
              <a:rPr lang="en-US" altLang="ko-KR" b="1" i="1" dirty="0">
                <a:latin typeface="Arial Narrow" panose="020B0606020202030204" pitchFamily="34" charset="0"/>
                <a:ea typeface="Gulim" pitchFamily="34" charset="-127"/>
              </a:rPr>
              <a:t> Vardhan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ko-KR" sz="1800" b="1" i="1" dirty="0">
              <a:ea typeface="Gulim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2C758-79A9-9009-E6FA-0C851779A111}"/>
              </a:ext>
            </a:extLst>
          </p:cNvPr>
          <p:cNvSpPr txBox="1"/>
          <p:nvPr/>
        </p:nvSpPr>
        <p:spPr>
          <a:xfrm>
            <a:off x="634069" y="556320"/>
            <a:ext cx="78983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2000" b="1" i="1" dirty="0">
                <a:solidFill>
                  <a:srgbClr val="C00000"/>
                </a:solidFill>
              </a:rPr>
              <a:t>Team Members </a:t>
            </a:r>
            <a:r>
              <a:rPr lang="en-IN" sz="1800" b="1" dirty="0">
                <a:solidFill>
                  <a:srgbClr val="C00000"/>
                </a:solidFill>
              </a:rPr>
              <a:t>( Group - 5 ) :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AF05E-62C7-799A-04FE-FBA461F5CB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84312"/>
            <a:ext cx="8107411" cy="41764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276BF2-7E37-8BDD-7E7E-96D6707687EA}"/>
              </a:ext>
            </a:extLst>
          </p:cNvPr>
          <p:cNvSpPr txBox="1"/>
          <p:nvPr/>
        </p:nvSpPr>
        <p:spPr>
          <a:xfrm>
            <a:off x="611560" y="628328"/>
            <a:ext cx="79208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</a:t>
            </a:r>
            <a:r>
              <a:rPr lang="en-IN" b="1" i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i="0" u="sng" dirty="0">
                <a:solidFill>
                  <a:srgbClr val="00499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r>
              <a:rPr lang="en-US" sz="1400" u="sng" dirty="0">
                <a:solidFill>
                  <a:srgbClr val="0049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Analytics </a:t>
            </a:r>
            <a:r>
              <a:rPr lang="en-US" sz="1400" b="1" i="0" u="sng" dirty="0">
                <a:solidFill>
                  <a:srgbClr val="00499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400" i="0" u="sng" dirty="0">
                <a:solidFill>
                  <a:srgbClr val="00499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200" dirty="0">
              <a:latin typeface="+mn-lt"/>
              <a:cs typeface="Arial" panose="020B0604020202020204" pitchFamily="34" charset="0"/>
            </a:endParaRPr>
          </a:p>
          <a:p>
            <a:r>
              <a:rPr lang="en-US" sz="1200" dirty="0">
                <a:latin typeface="+mn-lt"/>
                <a:cs typeface="Arial" panose="020B0604020202020204" pitchFamily="34" charset="0"/>
              </a:rPr>
              <a:t>Healthcare analytics  involves analyzing hospital and patient data to improve healthcare services and decision-making.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u="sng" dirty="0">
                <a:solidFill>
                  <a:srgbClr val="0049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impact:</a:t>
            </a:r>
          </a:p>
          <a:p>
            <a:endParaRPr lang="en-US" sz="1200" dirty="0">
              <a:latin typeface="+mn-lt"/>
              <a:cs typeface="Arial" panose="020B0604020202020204" pitchFamily="34" charset="0"/>
            </a:endParaRPr>
          </a:p>
          <a:p>
            <a:r>
              <a:rPr lang="en-US" sz="1200" dirty="0">
                <a:latin typeface="+mn-lt"/>
                <a:cs typeface="Arial" panose="020B0604020202020204" pitchFamily="34" charset="0"/>
              </a:rPr>
              <a:t>It helps improve patient care, reduce costs, and increase hospital efficiency through data-driven insights.</a:t>
            </a:r>
          </a:p>
          <a:p>
            <a:endParaRPr lang="en-US" sz="14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b="1" i="0" u="sng" dirty="0">
                <a:solidFill>
                  <a:srgbClr val="00499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 of the Project:  </a:t>
            </a:r>
          </a:p>
          <a:p>
            <a:pPr algn="l"/>
            <a:endParaRPr lang="en-US" sz="1200" dirty="0">
              <a:latin typeface="+mn-lt"/>
              <a:cs typeface="Arial" panose="020B0604020202020204" pitchFamily="34" charset="0"/>
            </a:endParaRPr>
          </a:p>
          <a:p>
            <a:pPr algn="l"/>
            <a:r>
              <a:rPr lang="en-US" sz="1200" dirty="0">
                <a:latin typeface="+mn-lt"/>
                <a:cs typeface="Arial" panose="020B0604020202020204" pitchFamily="34" charset="0"/>
              </a:rPr>
              <a:t>This project aims to analyze key healthcare KPIs to improve hospital performance and support better management decisions.</a:t>
            </a:r>
            <a:endParaRPr lang="en-US" sz="1200" b="1" i="0" dirty="0">
              <a:effectLst/>
              <a:latin typeface="+mn-lt"/>
              <a:cs typeface="Arial" panose="020B0604020202020204" pitchFamily="34" charset="0"/>
            </a:endParaRPr>
          </a:p>
          <a:p>
            <a:endParaRPr lang="en-US" sz="14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70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1886-CA64-4CA9-C6FA-ACA47935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4328FC-6243-99DA-2D15-74FCF97A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6B61BD-AC7C-0EA8-47B5-1C028CF6CF3A}"/>
              </a:ext>
            </a:extLst>
          </p:cNvPr>
          <p:cNvSpPr txBox="1"/>
          <p:nvPr/>
        </p:nvSpPr>
        <p:spPr>
          <a:xfrm>
            <a:off x="755576" y="727045"/>
            <a:ext cx="748883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Goals and Objectives:</a:t>
            </a:r>
            <a:endParaRPr lang="en-US" i="1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Enhance patient care quality and treatment outcomes.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Improve hospital operational efficiency and reduce waiting time.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Integrate accurate and transparent data management systems.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Optimize resource utilization (beds, staff, equipment).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Reduce hospital readmission rates and medical errors.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Ensure patient data security and privacy compliance.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Increase patient satisfaction and service experience.</a:t>
            </a:r>
          </a:p>
          <a:p>
            <a:pPr algn="just">
              <a:buFont typeface="+mj-lt"/>
              <a:buAutoNum type="arabicPeriod"/>
            </a:pP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Support data-driven decision-making for sustainable healthcare growth.</a:t>
            </a:r>
            <a:endParaRPr lang="en-US" sz="1400" b="1" i="0" dirty="0"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78022F-6233-B309-35FB-DC69E85F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118A89-9208-0132-4149-B0CC0A1853A1}"/>
              </a:ext>
            </a:extLst>
          </p:cNvPr>
          <p:cNvSpPr txBox="1"/>
          <p:nvPr/>
        </p:nvSpPr>
        <p:spPr>
          <a:xfrm>
            <a:off x="3419872" y="412304"/>
            <a:ext cx="46085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Söhne"/>
              </a:rPr>
              <a:t> </a:t>
            </a:r>
            <a:r>
              <a:rPr lang="en-IN" sz="2400" i="1" dirty="0">
                <a:solidFill>
                  <a:srgbClr val="C00000"/>
                </a:solidFill>
                <a:latin typeface="Segoe UI Variable Text Semibold" pitchFamily="2" charset="0"/>
              </a:rPr>
              <a:t>Visual Analysis</a:t>
            </a:r>
            <a:endParaRPr lang="en-IN" sz="2400" i="1" dirty="0">
              <a:solidFill>
                <a:srgbClr val="00B0F0"/>
              </a:solidFill>
              <a:latin typeface="Söhne"/>
            </a:endParaRPr>
          </a:p>
          <a:p>
            <a:endParaRPr lang="en-US" sz="2000" i="1" dirty="0">
              <a:solidFill>
                <a:srgbClr val="0070C0"/>
              </a:solidFill>
              <a:latin typeface="Söhne"/>
            </a:endParaRPr>
          </a:p>
          <a:p>
            <a:r>
              <a:rPr lang="en-US" sz="2000" i="1" dirty="0">
                <a:solidFill>
                  <a:srgbClr val="0070C0"/>
                </a:solidFill>
                <a:latin typeface="Söhne"/>
              </a:rPr>
              <a:t>       Total Doctors</a:t>
            </a:r>
            <a:endParaRPr lang="en-US" sz="1800" b="1" i="1" dirty="0">
              <a:solidFill>
                <a:srgbClr val="0070C0"/>
              </a:solidFill>
              <a:latin typeface="Söhne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DFF39-DF42-C270-1F7A-80772866FA64}"/>
              </a:ext>
            </a:extLst>
          </p:cNvPr>
          <p:cNvSpPr txBox="1"/>
          <p:nvPr/>
        </p:nvSpPr>
        <p:spPr>
          <a:xfrm>
            <a:off x="3501256" y="1564432"/>
            <a:ext cx="468052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Represents the total number of doctors available in the hospital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Shows the hospital’s workforce capacity.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Helps measure doctor availability for patient care.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Indicates operational strength of the healthcare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Supports decisions on hiring new doctors.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0" dirty="0"/>
              <a:t>Ensures balanced workload distribution</a:t>
            </a:r>
            <a:endParaRPr lang="en-IN" sz="1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C38A9-400B-A01F-F196-9C5FCA08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" t="38210" r="87799" b="42140"/>
          <a:stretch>
            <a:fillRect/>
          </a:stretch>
        </p:blipFill>
        <p:spPr>
          <a:xfrm>
            <a:off x="683568" y="1348408"/>
            <a:ext cx="2268252" cy="151216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60078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98D5C5-2B30-277D-B27B-352BF0042C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FBE1E0-2E3D-3642-C8CC-A672F5CB3684}"/>
              </a:ext>
            </a:extLst>
          </p:cNvPr>
          <p:cNvSpPr txBox="1"/>
          <p:nvPr/>
        </p:nvSpPr>
        <p:spPr>
          <a:xfrm>
            <a:off x="647564" y="457321"/>
            <a:ext cx="7848872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0" dirty="0">
                <a:solidFill>
                  <a:srgbClr val="C00000"/>
                </a:solidFill>
                <a:effectLst/>
                <a:latin typeface="Söhne"/>
              </a:rPr>
              <a:t>                          </a:t>
            </a:r>
            <a:endParaRPr lang="en-IN" sz="3200" b="1" i="1" dirty="0">
              <a:solidFill>
                <a:srgbClr val="C00000"/>
              </a:solidFill>
              <a:effectLst/>
              <a:latin typeface="Segoe UI Variable Text Semibold" pitchFamily="2" charset="0"/>
            </a:endParaRPr>
          </a:p>
          <a:p>
            <a:r>
              <a:rPr lang="en-IN" sz="2400" b="1" dirty="0">
                <a:solidFill>
                  <a:srgbClr val="00B050"/>
                </a:solidFill>
                <a:latin typeface="Söhne"/>
              </a:rPr>
              <a:t>                                     </a:t>
            </a:r>
            <a:r>
              <a:rPr lang="en-IN" sz="2400" i="1" dirty="0">
                <a:solidFill>
                  <a:srgbClr val="00B0F0"/>
                </a:solidFill>
                <a:latin typeface="Söhne"/>
              </a:rPr>
              <a:t>  </a:t>
            </a:r>
            <a:r>
              <a:rPr lang="en-US" sz="2000" i="1" dirty="0">
                <a:solidFill>
                  <a:srgbClr val="0070C0"/>
                </a:solidFill>
                <a:latin typeface="Söhne"/>
              </a:rPr>
              <a:t>Total Patients</a:t>
            </a:r>
            <a:endParaRPr lang="en-US" i="1" dirty="0">
              <a:solidFill>
                <a:srgbClr val="0070C0"/>
              </a:solidFill>
              <a:latin typeface="Söhne"/>
            </a:endParaRPr>
          </a:p>
          <a:p>
            <a:endParaRPr lang="en-US" sz="1800" b="1" dirty="0"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en-US" sz="1600" b="0" i="0" dirty="0">
              <a:solidFill>
                <a:schemeClr val="tx2"/>
              </a:solidFill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US" sz="1800" b="1" dirty="0">
              <a:latin typeface="Söhne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CE4C2-CFE3-11E3-9D8F-F6BC8430FA69}"/>
              </a:ext>
            </a:extLst>
          </p:cNvPr>
          <p:cNvSpPr txBox="1"/>
          <p:nvPr/>
        </p:nvSpPr>
        <p:spPr>
          <a:xfrm>
            <a:off x="3338406" y="1492424"/>
            <a:ext cx="53285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Total Patients represent the overall number of individuals who visited the hospital within the selected time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Helps in resource planning (Doctors, Beds, Staff).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Useful for analyzing seasonal trends and peak visit periods..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Helps measure service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Shows patient inflow trends.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83B88-3600-63A9-F9AF-A37B75A2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" t="15461" r="87418" b="63609"/>
          <a:stretch>
            <a:fillRect/>
          </a:stretch>
        </p:blipFill>
        <p:spPr>
          <a:xfrm>
            <a:off x="755576" y="1564432"/>
            <a:ext cx="2015914" cy="14111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71327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E27174-41DC-3649-DF4B-A89E1185E7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6" y="457322"/>
            <a:ext cx="8208910" cy="4230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1E3BFF-A8C2-548E-2007-95F092F96AB7}"/>
              </a:ext>
            </a:extLst>
          </p:cNvPr>
          <p:cNvSpPr txBox="1"/>
          <p:nvPr/>
        </p:nvSpPr>
        <p:spPr>
          <a:xfrm>
            <a:off x="3491880" y="556320"/>
            <a:ext cx="3276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1" dirty="0">
                <a:solidFill>
                  <a:srgbClr val="00B0F0"/>
                </a:solidFill>
                <a:latin typeface="Söhne"/>
              </a:rPr>
              <a:t>     </a:t>
            </a:r>
            <a:r>
              <a:rPr lang="en-US" sz="2000" i="1" dirty="0">
                <a:solidFill>
                  <a:srgbClr val="0070C0"/>
                </a:solidFill>
                <a:latin typeface="Söhne"/>
              </a:rPr>
              <a:t>Lab performance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424BD-BB6F-F010-683A-07F856F80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1" t="16299" r="48424" b="43775"/>
          <a:stretch>
            <a:fillRect/>
          </a:stretch>
        </p:blipFill>
        <p:spPr>
          <a:xfrm>
            <a:off x="899592" y="1348407"/>
            <a:ext cx="2160240" cy="17281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2EF302-FBC0-67EE-EF4F-7B1F350CE850}"/>
              </a:ext>
            </a:extLst>
          </p:cNvPr>
          <p:cNvSpPr txBox="1"/>
          <p:nvPr/>
        </p:nvSpPr>
        <p:spPr>
          <a:xfrm>
            <a:off x="3419872" y="1029496"/>
            <a:ext cx="45873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0" dirty="0"/>
              <a:t> Lab Performance refers to the evaluation of laboratory test outcomes categorized as Normal, Abnormal, and Pending. </a:t>
            </a:r>
          </a:p>
          <a:p>
            <a:endParaRPr lang="en-IN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0" dirty="0"/>
              <a:t>Quick identification of abnormal results enables doctors to start treatment without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0" dirty="0"/>
              <a:t>Tracking lab outcomes ensures patients receive timely follow-ups and proper medical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0" dirty="0"/>
              <a:t>High abnormal rates may indicate rising health issues, helping management take preventive actions.</a:t>
            </a:r>
          </a:p>
        </p:txBody>
      </p:sp>
    </p:spTree>
    <p:extLst>
      <p:ext uri="{BB962C8B-B14F-4D97-AF65-F5344CB8AC3E}">
        <p14:creationId xmlns:p14="http://schemas.microsoft.com/office/powerpoint/2010/main" val="4198035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039E-1B88-CDEC-C5EF-7B3EA081CB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B5205-4AAA-9877-541C-0FA818EB3692}"/>
              </a:ext>
            </a:extLst>
          </p:cNvPr>
          <p:cNvSpPr txBox="1"/>
          <p:nvPr/>
        </p:nvSpPr>
        <p:spPr>
          <a:xfrm>
            <a:off x="3262557" y="442505"/>
            <a:ext cx="5557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Söhne"/>
              </a:rPr>
              <a:t>  </a:t>
            </a:r>
            <a:r>
              <a:rPr lang="en-IN" sz="2000" i="1" dirty="0">
                <a:solidFill>
                  <a:srgbClr val="0070C0"/>
                </a:solidFill>
                <a:latin typeface="Söhne"/>
              </a:rPr>
              <a:t>Top 5 diagnosis and treatment cost</a:t>
            </a:r>
            <a:endParaRPr lang="en-US" sz="2000" i="1" dirty="0">
              <a:solidFill>
                <a:srgbClr val="0070C0"/>
              </a:solidFill>
              <a:latin typeface="Söh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25DDD-6474-2720-B1E5-44F257636D42}"/>
              </a:ext>
            </a:extLst>
          </p:cNvPr>
          <p:cNvSpPr txBox="1"/>
          <p:nvPr/>
        </p:nvSpPr>
        <p:spPr>
          <a:xfrm>
            <a:off x="3491880" y="987495"/>
            <a:ext cx="48965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analysis highlights the five most frequently diagnosed medical conditions and compares the treatment methods and associated costs for each condition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/>
              <a:t>Helps identify the most common health conditions in the patient population.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/>
              <a:t>Assists in estimating treatment expenses and revenue contribution.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/>
              <a:t>Supports better budgeting and financial planning.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/>
              <a:t>Enables efficient allocation of doctors, specialists, and medical equipment.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b="0" dirty="0"/>
              <a:t>Helps management focus on high-demand healthcare services.</a:t>
            </a:r>
            <a:endParaRPr lang="en-IN" sz="12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8CFCF-048C-D3FF-2800-5BB0E06B1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76" t="56654" r="30313" b="15064"/>
          <a:stretch>
            <a:fillRect/>
          </a:stretch>
        </p:blipFill>
        <p:spPr>
          <a:xfrm>
            <a:off x="539552" y="916360"/>
            <a:ext cx="2952328" cy="250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83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10C9A5-6C86-18C8-9C37-56985F9882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E41E88-7D8E-B013-0EA2-09EFE2095FE8}"/>
              </a:ext>
            </a:extLst>
          </p:cNvPr>
          <p:cNvSpPr txBox="1"/>
          <p:nvPr/>
        </p:nvSpPr>
        <p:spPr>
          <a:xfrm>
            <a:off x="3347864" y="70033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499F"/>
                </a:solidFill>
              </a:rPr>
              <a:t>Treatment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2A500-7CB7-C410-C5FD-35761FF6C919}"/>
              </a:ext>
            </a:extLst>
          </p:cNvPr>
          <p:cNvSpPr txBox="1"/>
          <p:nvPr/>
        </p:nvSpPr>
        <p:spPr>
          <a:xfrm>
            <a:off x="3343528" y="1201012"/>
            <a:ext cx="482453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It helps measure how treatments contribute to patient recovery and hospital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Helps identify expensive treatments and manage hospital expenses efficiently.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Shows which treatments generate higher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Supports planning of doctors, equipment, and medicines.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Helps analyze which treatments are most effective.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Assists management in expanding high-demand services.</a:t>
            </a:r>
            <a:endParaRPr lang="en-IN" sz="1400" b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D1A683-DF77-9485-221C-97BF63B24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55" r="74412" b="3419"/>
          <a:stretch>
            <a:fillRect/>
          </a:stretch>
        </p:blipFill>
        <p:spPr>
          <a:xfrm>
            <a:off x="611560" y="1492424"/>
            <a:ext cx="2339752" cy="172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30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FC7A1F-FFEB-6263-D078-A84175A5FB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ADDED2-C820-CB19-DDE9-DE22F680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Excel DASHBOARD</a:t>
            </a:r>
            <a:endParaRPr lang="en-IN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E4CC65-2028-9A0F-6A53-68AB2EB6E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755" y="1917700"/>
            <a:ext cx="5882573" cy="24907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84A17-0C69-5C43-C12A-5F8B8FB5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2705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C2EBF-940F-CD70-A1BA-F8FD1C8B0A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4A5F7-C03A-2B5C-59FA-31C7FFFC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Power BI Dashboard</a:t>
            </a:r>
            <a:endParaRPr lang="en-IN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BF4279-7D2B-286C-FB64-10B13C7B7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1640" y="1917700"/>
            <a:ext cx="6433785" cy="24907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81F6-E615-DAD1-4D5A-F76033E2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79848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5CA0C8-CA28-F676-6D9C-CBEE2CBB29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2079D5-0C9B-4CFA-1185-609253121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2" y="736827"/>
            <a:ext cx="7200897" cy="971621"/>
          </a:xfrm>
        </p:spPr>
        <p:txBody>
          <a:bodyPr/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Tableau dashboard</a:t>
            </a:r>
            <a:endParaRPr lang="en-IN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57A143-E774-8FFD-9B11-A5A66C0BE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3648" y="1852464"/>
            <a:ext cx="6273936" cy="25560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564B-6430-0DC9-27E8-18ED8FEA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47452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257C78-E39C-1365-17A7-4362E87EC0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D4D420-221E-CE04-660C-DFE9F8FE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My </a:t>
            </a:r>
            <a:r>
              <a:rPr lang="en-US" u="sng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sQl</a:t>
            </a:r>
            <a:endParaRPr lang="en-IN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7BE860-6EDC-47CA-356F-D9C1C36A3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1917700"/>
            <a:ext cx="6768752" cy="24907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86B71-4840-6F03-66E4-92394EC7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0949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DAF410-BB7A-7953-754F-38133818D2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7322"/>
            <a:ext cx="8208910" cy="4230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748EE1-9408-1639-5E46-4310386872F3}"/>
              </a:ext>
            </a:extLst>
          </p:cNvPr>
          <p:cNvSpPr txBox="1"/>
          <p:nvPr/>
        </p:nvSpPr>
        <p:spPr>
          <a:xfrm>
            <a:off x="640755" y="457341"/>
            <a:ext cx="78916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1" dirty="0">
                <a:solidFill>
                  <a:srgbClr val="C00000"/>
                </a:solidFill>
                <a:effectLst/>
                <a:latin typeface="Söhne"/>
              </a:rPr>
              <a:t>CONCLUSION</a:t>
            </a:r>
            <a:r>
              <a:rPr lang="en-US" sz="2800" b="1" i="0" dirty="0">
                <a:solidFill>
                  <a:srgbClr val="C00000"/>
                </a:solidFill>
                <a:effectLst/>
                <a:latin typeface="Söhne"/>
              </a:rPr>
              <a:t> :</a:t>
            </a:r>
          </a:p>
          <a:p>
            <a:pPr algn="l"/>
            <a:endParaRPr lang="en-US" sz="1400" b="0" dirty="0"/>
          </a:p>
          <a:p>
            <a:pPr algn="just"/>
            <a:endParaRPr lang="en-US" sz="14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B6E2D-85C4-0A1D-0009-ED6F839122E4}"/>
              </a:ext>
            </a:extLst>
          </p:cNvPr>
          <p:cNvSpPr txBox="1"/>
          <p:nvPr/>
        </p:nvSpPr>
        <p:spPr>
          <a:xfrm>
            <a:off x="755575" y="1204392"/>
            <a:ext cx="76328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In conclusion, this project demonstrates how data analytics can improve hospital efficiency, optimize resource planning, and enhance patient care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 By using advanced tools like Power BI, Tableau, Excel, and MySQL, we converted healthcare data into actionable insights that support strategic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This analytical approach helps hospital management identify performance gaps, reduce operational delays, improve diagnostic turnaround time, and allocate medical resources more effectively.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It also enables proactive decision-making by highlighting high-demand treatments and frequently diagnosed conditions.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65950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A6C292-BD36-E897-D973-FFE732F3EEE3}"/>
              </a:ext>
            </a:extLst>
          </p:cNvPr>
          <p:cNvSpPr/>
          <p:nvPr/>
        </p:nvSpPr>
        <p:spPr>
          <a:xfrm>
            <a:off x="1725708" y="1910825"/>
            <a:ext cx="569258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80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473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ustom Design">
  <a:themeElements>
    <a:clrScheme name="Balls-of-Thread">
      <a:dk1>
        <a:srgbClr val="000000"/>
      </a:dk1>
      <a:lt1>
        <a:srgbClr val="943024"/>
      </a:lt1>
      <a:dk2>
        <a:srgbClr val="000000"/>
      </a:dk2>
      <a:lt2>
        <a:srgbClr val="A77C00"/>
      </a:lt2>
      <a:accent1>
        <a:srgbClr val="DFA600"/>
      </a:accent1>
      <a:accent2>
        <a:srgbClr val="FFC285"/>
      </a:accent2>
      <a:accent3>
        <a:srgbClr val="D86E61"/>
      </a:accent3>
      <a:accent4>
        <a:srgbClr val="FFD14F"/>
      </a:accent4>
      <a:accent5>
        <a:srgbClr val="A78569"/>
      </a:accent5>
      <a:accent6>
        <a:srgbClr val="FF7C80"/>
      </a:accent6>
      <a:hlink>
        <a:srgbClr val="80634B"/>
      </a:hlink>
      <a:folHlink>
        <a:srgbClr val="FFFFF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591</Words>
  <Application>Microsoft Office PowerPoint</Application>
  <PresentationFormat>Custom</PresentationFormat>
  <Paragraphs>119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Gulim</vt:lpstr>
      <vt:lpstr>Algerian</vt:lpstr>
      <vt:lpstr>Arial</vt:lpstr>
      <vt:lpstr>Arial Narrow</vt:lpstr>
      <vt:lpstr>Calibri</vt:lpstr>
      <vt:lpstr>Garamond</vt:lpstr>
      <vt:lpstr>Georgia</vt:lpstr>
      <vt:lpstr>Segoe UI Variable Text Semibold</vt:lpstr>
      <vt:lpstr>Söhne</vt:lpstr>
      <vt:lpstr>Wingdings</vt:lpstr>
      <vt:lpstr>Custom Design</vt:lpstr>
      <vt:lpstr>Organic</vt:lpstr>
      <vt:lpstr> Health  care 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</vt:lpstr>
      <vt:lpstr>Power BI Dashboard</vt:lpstr>
      <vt:lpstr>Tableau dashboard</vt:lpstr>
      <vt:lpstr>My sQl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yaswath kumar rajala</cp:lastModifiedBy>
  <cp:revision>238</cp:revision>
  <dcterms:created xsi:type="dcterms:W3CDTF">2006-06-29T12:15:01Z</dcterms:created>
  <dcterms:modified xsi:type="dcterms:W3CDTF">2026-03-03T17:00:48Z</dcterms:modified>
</cp:coreProperties>
</file>